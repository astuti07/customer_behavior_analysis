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DM Sans SemiBold"/>
      <p:regular r:id="rId201314"/>
    </p:embeddedFont>
    <p:embeddedFont>
      <p:font typeface="Inter Medium"/>
      <p:regular r:id="rId201315"/>
    </p:embeddedFont>
    <p:embeddedFont>
      <p:font typeface="Inter SemiBold"/>
      <p:regular r:id="rId201316"/>
    </p:embeddedFont>
    <p:embeddedFont>
      <p:font typeface="Inter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6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99386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CUSTOMER SHOPPING BEHAVIOR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3381971"/>
            <a:ext cx="11150321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growth signals inside 3,900 purchases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09585" y="5471120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5745821"/>
            <a:ext cx="11150321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data-forward readout of category, customer, subscription, discount, product, and shipping behavior.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shopping behavior: the growth signals inside 3,900 purchases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DATASET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dataset shows a broad, repeat-oriented customer base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9585" y="2510830"/>
            <a:ext cx="3454314" cy="3432770"/>
          </a:xfrm>
          <a:prstGeom prst="roundRect">
            <a:avLst>
              <a:gd name="adj" fmla="val 6215"/>
            </a:avLst>
          </a:prstGeom>
          <a:solidFill>
            <a:srgbClr val="EEF7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739430"/>
            <a:ext cx="539736" cy="539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179" y="3431580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3,900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38179" y="4229378"/>
            <a:ext cx="2997125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purchases across 18 fields and 4 product categories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68691" y="2510830"/>
            <a:ext cx="3454314" cy="3432770"/>
          </a:xfrm>
          <a:prstGeom prst="roundRect">
            <a:avLst>
              <a:gd name="adj" fmla="val 6215"/>
            </a:avLst>
          </a:prstGeom>
          <a:solidFill>
            <a:srgbClr val="EEF7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739430"/>
            <a:ext cx="539736" cy="539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7285" y="3431580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$59.76</a:t>
            </a:r>
            <a:endParaRPr lang="en-US" sz="5200" dirty="0"/>
          </a:p>
        </p:txBody>
      </p:sp>
      <p:sp>
        <p:nvSpPr>
          <p:cNvPr id="13" name="Text 9"/>
          <p:cNvSpPr/>
          <p:nvPr/>
        </p:nvSpPr>
        <p:spPr>
          <a:xfrm>
            <a:off x="4597285" y="4229378"/>
            <a:ext cx="2997125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purchase</a:t>
            </a:r>
            <a:endParaRPr lang="en-US" sz="13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3.75 average review rating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27797" y="2510830"/>
            <a:ext cx="3454314" cy="3432770"/>
          </a:xfrm>
          <a:prstGeom prst="roundRect">
            <a:avLst>
              <a:gd name="adj" fmla="val 6215"/>
            </a:avLst>
          </a:prstGeom>
          <a:solidFill>
            <a:srgbClr val="EEF7F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2739430"/>
            <a:ext cx="539736" cy="539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6391" y="3431580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18–70</a:t>
            </a:r>
            <a:endParaRPr lang="en-US" sz="5200" dirty="0"/>
          </a:p>
        </p:txBody>
      </p:sp>
      <p:sp>
        <p:nvSpPr>
          <p:cNvPr id="17" name="Text 12"/>
          <p:cNvSpPr/>
          <p:nvPr/>
        </p:nvSpPr>
        <p:spPr>
          <a:xfrm>
            <a:off x="8356391" y="4229378"/>
            <a:ext cx="322571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ages across 50 locations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4"/>
          <p:cNvSpPr/>
          <p:nvPr/>
        </p:nvSpPr>
        <p:spPr>
          <a:xfrm>
            <a:off x="11365720" y="6583859"/>
            <a:ext cx="82597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shopping behavior: the growth signals inside 3,900 purchases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848558"/>
            <a:ext cx="629904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CATEGORY ECONOMICS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177798"/>
            <a:ext cx="5943451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Clothing leads revenue, while accessories are the next engine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2718844"/>
            <a:ext cx="629904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 and sales volume follow the same order.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3198813"/>
            <a:ext cx="2895428" cy="1609229"/>
          </a:xfrm>
          <a:prstGeom prst="roundRect">
            <a:avLst>
              <a:gd name="adj" fmla="val 13258"/>
            </a:avLst>
          </a:prstGeom>
          <a:solidFill>
            <a:srgbClr val="EEF7F2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437890"/>
            <a:ext cx="243824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Clothing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179" y="3970786"/>
            <a:ext cx="2438240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$100K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revenue · 1,800 sales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409" y="3198813"/>
            <a:ext cx="2895528" cy="1609229"/>
          </a:xfrm>
          <a:prstGeom prst="roundRect">
            <a:avLst>
              <a:gd name="adj" fmla="val 13258"/>
            </a:avLst>
          </a:prstGeom>
          <a:solidFill>
            <a:srgbClr val="EEF7F2"/>
          </a:solidFill>
          <a:ln/>
        </p:spPr>
      </p:sp>
      <p:sp>
        <p:nvSpPr>
          <p:cNvPr id="11" name="Text 9"/>
          <p:cNvSpPr/>
          <p:nvPr/>
        </p:nvSpPr>
        <p:spPr>
          <a:xfrm>
            <a:off x="3886004" y="3437890"/>
            <a:ext cx="243833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Accessories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86004" y="3970786"/>
            <a:ext cx="2438339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$75K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revenue · 1,200 sales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585" y="4960441"/>
            <a:ext cx="2895428" cy="1609229"/>
          </a:xfrm>
          <a:prstGeom prst="roundRect">
            <a:avLst>
              <a:gd name="adj" fmla="val 13258"/>
            </a:avLst>
          </a:prstGeom>
          <a:solidFill>
            <a:srgbClr val="EE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" y="5199519"/>
            <a:ext cx="243824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Footwear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179" y="5732415"/>
            <a:ext cx="2438240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$35K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revenue · 600 sales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57409" y="4960441"/>
            <a:ext cx="2895528" cy="1609229"/>
          </a:xfrm>
          <a:prstGeom prst="roundRect">
            <a:avLst>
              <a:gd name="adj" fmla="val 13258"/>
            </a:avLst>
          </a:prstGeom>
          <a:solidFill>
            <a:srgbClr val="EEF7F2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004" y="5199519"/>
            <a:ext cx="243833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Outerwear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86004" y="5732415"/>
            <a:ext cx="2438339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$20K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revenue · 350 sales</a:t>
            </a:r>
            <a:endParaRPr lang="en-US" sz="17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225" y="842367"/>
            <a:ext cx="4571886" cy="5727303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11363934" y="6583859"/>
            <a:ext cx="82776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shopping behavior: the growth signals inside 3,900 purchases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CUSTOMER MIX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Young adults contribute the most revenue, but every age group matters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66715"/>
            <a:ext cx="7111822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26199" y="2510830"/>
            <a:ext cx="3555911" cy="3940770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/>
        </p:spPr>
      </p:sp>
      <p:sp>
        <p:nvSpPr>
          <p:cNvPr id="8" name="Text 5"/>
          <p:cNvSpPr/>
          <p:nvPr/>
        </p:nvSpPr>
        <p:spPr>
          <a:xfrm>
            <a:off x="8305592" y="3915628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gap is modest.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305592" y="4448524"/>
            <a:ext cx="299712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Differentiated messaging beats one broad campaign.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1358874" y="6583859"/>
            <a:ext cx="83282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shopping behavior: the growth signals inside 3,900 purchases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Male customers generated more than twice the revenue of female customers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841129"/>
            <a:ext cx="7111822" cy="304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26199" y="2510830"/>
            <a:ext cx="3555911" cy="3708598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/>
        </p:spPr>
      </p:sp>
      <p:sp>
        <p:nvSpPr>
          <p:cNvPr id="8" name="Text 5"/>
          <p:cNvSpPr/>
          <p:nvPr/>
        </p:nvSpPr>
        <p:spPr>
          <a:xfrm>
            <a:off x="8330992" y="2802930"/>
            <a:ext cx="2946326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$157,890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330992" y="3600728"/>
            <a:ext cx="325111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Male revenue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330992" y="3970933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11" name="Text 8"/>
          <p:cNvSpPr/>
          <p:nvPr/>
        </p:nvSpPr>
        <p:spPr>
          <a:xfrm>
            <a:off x="8330992" y="4156226"/>
            <a:ext cx="2946326" cy="183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 the difference as a targeting signal, then validate whether it reflects mix, conversion, or basket size before reallocating spend.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368002" y="6583859"/>
            <a:ext cx="8236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shopping behavior: the growth signals inside 3,900 purchases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LOYALTY AND SUBSCRIPTION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Loyal customers dominate the file, but subscription is not keeping pace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9585" y="2510830"/>
            <a:ext cx="5333867" cy="3432770"/>
          </a:xfrm>
          <a:prstGeom prst="roundRect">
            <a:avLst>
              <a:gd name="adj" fmla="val 6215"/>
            </a:avLst>
          </a:prstGeom>
          <a:solidFill>
            <a:srgbClr val="EEF7F2"/>
          </a:solidFill>
          <a:ln/>
        </p:spPr>
      </p:sp>
      <p:sp>
        <p:nvSpPr>
          <p:cNvPr id="7" name="Text 5"/>
          <p:cNvSpPr/>
          <p:nvPr/>
        </p:nvSpPr>
        <p:spPr>
          <a:xfrm>
            <a:off x="914377" y="2826107"/>
            <a:ext cx="472428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segments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377" y="3418185"/>
            <a:ext cx="147316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3,116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14377" y="4215983"/>
            <a:ext cx="147316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Loyal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39936" y="3418185"/>
            <a:ext cx="147316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701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539936" y="4215983"/>
            <a:ext cx="147316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5496" y="3418185"/>
            <a:ext cx="147316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165496" y="4215983"/>
            <a:ext cx="147316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New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48244" y="2510830"/>
            <a:ext cx="5333867" cy="3432770"/>
          </a:xfrm>
          <a:prstGeom prst="roundRect">
            <a:avLst>
              <a:gd name="adj" fmla="val 6215"/>
            </a:avLst>
          </a:prstGeom>
          <a:solidFill>
            <a:srgbClr val="EEF7F2"/>
          </a:solidFill>
          <a:ln/>
        </p:spPr>
      </p:sp>
      <p:sp>
        <p:nvSpPr>
          <p:cNvPr id="15" name="Text 13"/>
          <p:cNvSpPr/>
          <p:nvPr/>
        </p:nvSpPr>
        <p:spPr>
          <a:xfrm>
            <a:off x="6553036" y="2826107"/>
            <a:ext cx="472428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Subscription mix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53036" y="3418185"/>
            <a:ext cx="228594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27%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553036" y="4215983"/>
            <a:ext cx="228594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91375" y="3418185"/>
            <a:ext cx="228594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73%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991375" y="4215983"/>
            <a:ext cx="228594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53036" y="4586188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21" name="Text 19"/>
          <p:cNvSpPr/>
          <p:nvPr/>
        </p:nvSpPr>
        <p:spPr>
          <a:xfrm>
            <a:off x="6553036" y="4771211"/>
            <a:ext cx="4724282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$62,645 subscriber revenue · $170,436 non-subscriber revenue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shopping behavior: the growth signals inside 3,900 purchases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GROWTH GAP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Subscription is the clearest growth gap, not a spend problem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9585" y="2510830"/>
            <a:ext cx="5333867" cy="2661642"/>
          </a:xfrm>
          <a:prstGeom prst="roundRect">
            <a:avLst>
              <a:gd name="adj" fmla="val 8016"/>
            </a:avLst>
          </a:prstGeom>
          <a:solidFill>
            <a:srgbClr val="EEF7F2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945805"/>
            <a:ext cx="4622684" cy="142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200" spc="-39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$59.49</a:t>
            </a:r>
            <a:endParaRPr lang="en-US" sz="11200" dirty="0"/>
          </a:p>
        </p:txBody>
      </p:sp>
      <p:sp>
        <p:nvSpPr>
          <p:cNvPr id="8" name="Text 6"/>
          <p:cNvSpPr/>
          <p:nvPr/>
        </p:nvSpPr>
        <p:spPr>
          <a:xfrm>
            <a:off x="965176" y="4640342"/>
            <a:ext cx="4978275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spend · subscribers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8244" y="2510830"/>
            <a:ext cx="5333867" cy="2661642"/>
          </a:xfrm>
          <a:prstGeom prst="roundRect">
            <a:avLst>
              <a:gd name="adj" fmla="val 8016"/>
            </a:avLst>
          </a:prstGeom>
          <a:solidFill>
            <a:srgbClr val="EEF7F2"/>
          </a:solidFill>
          <a:ln/>
        </p:spPr>
      </p:sp>
      <p:sp>
        <p:nvSpPr>
          <p:cNvPr id="10" name="Text 8"/>
          <p:cNvSpPr/>
          <p:nvPr/>
        </p:nvSpPr>
        <p:spPr>
          <a:xfrm>
            <a:off x="6603835" y="2945805"/>
            <a:ext cx="4622684" cy="142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200" spc="-39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$59.87</a:t>
            </a:r>
            <a:endParaRPr lang="en-US" sz="11200" dirty="0"/>
          </a:p>
        </p:txBody>
      </p:sp>
      <p:sp>
        <p:nvSpPr>
          <p:cNvPr id="11" name="Text 9"/>
          <p:cNvSpPr/>
          <p:nvPr/>
        </p:nvSpPr>
        <p:spPr>
          <a:xfrm>
            <a:off x="6603835" y="4640342"/>
            <a:ext cx="4978275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spend · non-subscribers</a:t>
            </a:r>
            <a:endParaRPr lang="en-US" sz="13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350272"/>
            <a:ext cx="539736" cy="5397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692333" y="5360749"/>
            <a:ext cx="88897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Convert existing repeat demand with better benefits.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92333" y="5893645"/>
            <a:ext cx="888977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 not assume subscribers naturally spend more.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376832" y="6583859"/>
            <a:ext cx="81486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shopping behavior: the growth signals inside 3,900 purchases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DISCOUNT BEHAVIOR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Discounts attract high-value baskets, especially in a few products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39430"/>
            <a:ext cx="6603835" cy="3276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70509" y="2510830"/>
            <a:ext cx="3911601" cy="3733800"/>
          </a:xfrm>
          <a:prstGeom prst="roundRect">
            <a:avLst>
              <a:gd name="adj" fmla="val 5714"/>
            </a:avLst>
          </a:prstGeom>
          <a:solidFill>
            <a:srgbClr val="EEF7F2"/>
          </a:solidFill>
          <a:ln/>
        </p:spPr>
      </p:sp>
      <p:sp>
        <p:nvSpPr>
          <p:cNvPr id="8" name="Text 5"/>
          <p:cNvSpPr/>
          <p:nvPr/>
        </p:nvSpPr>
        <p:spPr>
          <a:xfrm>
            <a:off x="7975301" y="2890639"/>
            <a:ext cx="3302017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839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7975301" y="3688437"/>
            <a:ext cx="3302017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 used discounts and still spent above the average purchase amount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975301" y="4521398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11" name="Text 8"/>
          <p:cNvSpPr/>
          <p:nvPr/>
        </p:nvSpPr>
        <p:spPr>
          <a:xfrm>
            <a:off x="7975301" y="4706691"/>
            <a:ext cx="3302017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 targeted offers on high-discount products while protecting margin on full-price demand.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2026-10-18T08:42:11Z</dcterms:created>
  <dcterms:modified xsi:type="dcterms:W3CDTF">2026-10-18T08:42:11Z</dcterms:modified>
</cp:coreProperties>
</file>